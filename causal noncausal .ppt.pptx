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2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2.xml><?xml version="1.0" encoding="utf-8"?>
<a:tblStyleLst xmlns:a="http://schemas.openxmlformats.org/drawingml/2006/main" xmlns:r="http://schemas.openxmlformats.org/officeDocument/2006/relationships" def="{8753E01F-0F8C-470F-A443-B10AF90510F8}">
  <a:tblStyle styleId="{8753E01F-0F8C-470F-A443-B10AF90510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C9199DF-09F3-4BF6-B86B-3925F7DECD9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2.xml"/><Relationship Id="rId3" Type="http://schemas.openxmlformats.org/officeDocument/2006/relationships/tableStyles" Target="tableStyles2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the topic, both presenters and the guide.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each case. Past and present dependence give causal systems; any dependence on the future makes the system non-causal.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Solve the first example step by step on the slide using n = 0 (non-causal). Then go through the two table examples: one causal (present + past) and one anti-causal (future input only).</a:t>
            </a:r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Give 1 minute per question. Answers: 1 causal, 2 non-causal, 3 non-causal (n = -1 needs x(1)), 4 causal.</a:t>
            </a:r>
            <a:endParaRPr/>
          </a:p>
        </p:txBody>
      </p:sp>
      <p:sp>
        <p:nvSpPr>
          <p:cNvPr id="42" name="Google Shape;4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each application to causal or non-causal use.</a:t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the audience and guide. Invite questions.</a:t>
            </a:r>
            <a:endParaRPr/>
          </a:p>
        </p:txBody>
      </p:sp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8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Causal and Non-Causal Systems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7F6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BFD7F6"/>
                </a:solidFill>
                <a:latin typeface="Calibri"/>
                <a:ea typeface="Calibri"/>
                <a:cs typeface="Calibri"/>
                <a:sym typeface="Calibri"/>
              </a:rPr>
              <a:t>Does the output depend on the past, present or future input?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48640" y="274320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Meet Ghelani (12502060601011)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Harshvardhan Mayani (125020606012)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486400" y="274320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Guided by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Hitesh Shah Sir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/>
          <p:nvPr/>
        </p:nvSpPr>
        <p:spPr>
          <a:xfrm>
            <a:off x="0" y="0"/>
            <a:ext cx="9144000" cy="146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438912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D4E"/>
              </a:buClr>
              <a:buSzPts val="2700"/>
              <a:buFont typeface="Play"/>
              <a:buNone/>
            </a:pPr>
            <a:r>
              <a:rPr b="1" i="0" lang="en-US" sz="2400" u="none" cap="none" strike="noStrike">
                <a:solidFill>
                  <a:srgbClr val="182D4E"/>
                </a:solidFill>
                <a:latin typeface="Play"/>
                <a:ea typeface="Play"/>
                <a:cs typeface="Play"/>
                <a:sym typeface="Play"/>
              </a:rPr>
              <a:t>Definitions: Causal, Non-Causal &amp; Anti-Causal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457200" y="795528"/>
            <a:ext cx="110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97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978"/>
                </a:solidFill>
                <a:latin typeface="Arial"/>
                <a:ea typeface="Arial"/>
                <a:cs typeface="Arial"/>
                <a:sym typeface="Arial"/>
              </a:rPr>
              <a:t>Classify a system by checking whether its output uses past, present, or future input values.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p1"/>
          <p:cNvGraphicFramePr/>
          <p:nvPr/>
        </p:nvGraphicFramePr>
        <p:xfrm>
          <a:off x="249864" y="12938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{8753E01F-0F8C-470F-A443-B10AF90510F8}</a:tableStyleId>
              </a:tblPr>
              <a:tblGrid>
                <a:gridCol w="1635425"/>
                <a:gridCol w="4311625"/>
                <a:gridCol w="2577075"/>
                <a:gridCol w="371692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  <a:defRPr sz="1400" u="none" cap="none" strike="noStrike"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type</a:t>
                      </a:r>
                      <a:endParaRPr sz="1800" u="none" cap="none" strike="noStrike"/>
                    </a:p>
                  </a:txBody>
                  <a:tcPr marT="45725" marB="36575" marR="73150" marL="91450" anchor="ctr">
                    <a:solidFill>
                      <a:srgbClr val="182D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  <a:defRPr sz="1400" u="none" cap="none" strike="noStrike"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Definition</a:t>
                      </a:r>
                      <a:endParaRPr sz="1800" u="none" cap="none" strike="noStrike"/>
                    </a:p>
                  </a:txBody>
                  <a:tcPr marT="45725" marB="36575" marR="73150" marL="91450" anchor="ctr">
                    <a:solidFill>
                      <a:srgbClr val="182D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  <a:defRPr sz="1400" u="none" cap="none" strike="noStrike"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 used</a:t>
                      </a:r>
                      <a:endParaRPr sz="1800" u="none" cap="none" strike="noStrike"/>
                    </a:p>
                  </a:txBody>
                  <a:tcPr marT="45725" marB="36575" marR="73150" marL="91450" anchor="ctr">
                    <a:solidFill>
                      <a:srgbClr val="182D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/>
                    </a:p>
                  </a:txBody>
                  <a:tcPr marT="45725" marB="36575" marR="73150" marL="91450" anchor="ctr">
                    <a:solidFill>
                      <a:srgbClr val="182D4E"/>
                    </a:solidFill>
                  </a:tcPr>
                </a:tc>
              </a:tr>
              <a:tr h="93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991"/>
                        </a:buClr>
                        <a:buSzPts val="1100"/>
                        <a:buFont typeface="Arial"/>
                        <a:buNone/>
                        <a:defRPr sz="1400" u="none" cap="none" strike="noStrike"/>
                      </a:pPr>
                      <a:r>
                        <a:rPr b="1" lang="en-US" sz="1100" u="none" cap="none" strike="noStrike">
                          <a:solidFill>
                            <a:srgbClr val="0089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Causal</a:t>
                      </a:r>
                      <a:endParaRPr sz="1800" u="none" cap="none" strike="noStrike"/>
                    </a:p>
                  </a:txBody>
                  <a:tcPr marT="45725" marB="36575" marR="73150" marL="91450" anchor="ctr">
                    <a:solidFill>
                      <a:srgbClr val="E2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441"/>
                        </a:buClr>
                        <a:buSzPts val="1100"/>
                        <a:buFont typeface="Arial"/>
                        <a:buNone/>
                        <a:defRPr sz="1400" u="none" cap="none" strike="noStrike"/>
                      </a:pPr>
                      <a:r>
                        <a:rPr b="0" lang="en-US" sz="1100" u="none" cap="none" strike="noStrike">
                          <a:solidFill>
                            <a:srgbClr val="2A34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Output at time n depends only on present and/or past inputs.</a:t>
                      </a:r>
                      <a:endParaRPr sz="1800" u="none" cap="none" strike="noStrike"/>
                    </a:p>
                  </a:txBody>
                  <a:tcPr marT="45725" marB="36575" marR="73150" marL="91450"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441"/>
                        </a:buClr>
                        <a:buSzPts val="1100"/>
                        <a:buFont typeface="Arial"/>
                        <a:buNone/>
                        <a:defRPr sz="1400" u="none" cap="none" strike="noStrike"/>
                      </a:pPr>
                      <a:r>
                        <a:rPr b="0" lang="en-US" sz="1100" u="none" cap="none" strike="noStrike">
                          <a:solidFill>
                            <a:srgbClr val="2A34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Present + past</a:t>
                      </a:r>
                      <a:endParaRPr sz="1800" u="none" cap="none" strike="noStrike"/>
                    </a:p>
                  </a:txBody>
                  <a:tcPr marT="45725" marB="36575" marR="73150" marL="91450"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/>
                    </a:p>
                  </a:txBody>
                  <a:tcPr marT="45725" marB="36575" marR="73150" marL="91450" anchor="ctr">
                    <a:solidFill>
                      <a:srgbClr val="E8F1F9"/>
                    </a:solidFill>
                  </a:tcPr>
                </a:tc>
              </a:tr>
              <a:tr h="93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991"/>
                        </a:buClr>
                        <a:buSzPts val="1100"/>
                        <a:buFont typeface="Arial"/>
                        <a:buNone/>
                        <a:defRPr sz="1400" u="none" cap="none" strike="noStrike"/>
                      </a:pPr>
                      <a:r>
                        <a:rPr b="1" lang="en-US" sz="1100" u="none" cap="none" strike="noStrike">
                          <a:solidFill>
                            <a:srgbClr val="0089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Non-causal</a:t>
                      </a:r>
                      <a:endParaRPr sz="1800" u="none" cap="none" strike="noStrike"/>
                    </a:p>
                  </a:txBody>
                  <a:tcPr marT="45725" marB="36575" marR="73150" marL="91450" anchor="ctr">
                    <a:solidFill>
                      <a:srgbClr val="E2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441"/>
                        </a:buClr>
                        <a:buSzPts val="1100"/>
                        <a:buFont typeface="Arial"/>
                        <a:buNone/>
                        <a:defRPr sz="1400" u="none" cap="none" strike="noStrike"/>
                      </a:pPr>
                      <a:r>
                        <a:rPr b="0" lang="en-US" sz="1100" u="none" cap="none" strike="noStrike">
                          <a:solidFill>
                            <a:srgbClr val="2A34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Output at time n depends on at least one future input.</a:t>
                      </a:r>
                      <a:endParaRPr sz="1800" u="none" cap="none" strike="noStrike"/>
                    </a:p>
                  </a:txBody>
                  <a:tcPr marT="45725" marB="36575" marR="73150" marL="914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441"/>
                        </a:buClr>
                        <a:buSzPts val="1100"/>
                        <a:buFont typeface="Arial"/>
                        <a:buNone/>
                        <a:defRPr sz="1400" u="none" cap="none" strike="noStrike"/>
                      </a:pPr>
                      <a:r>
                        <a:rPr b="0" lang="en-US" sz="1100" u="none" cap="none" strike="noStrike">
                          <a:solidFill>
                            <a:srgbClr val="2A34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Past/present and/or future</a:t>
                      </a:r>
                      <a:endParaRPr sz="1800" u="none" cap="none" strike="noStrike"/>
                    </a:p>
                  </a:txBody>
                  <a:tcPr marT="45725" marB="36575" marR="73150" marL="914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/>
                    </a:p>
                  </a:txBody>
                  <a:tcPr marT="45725" marB="36575" marR="73150" marL="91450" anchor="ctr">
                    <a:solidFill>
                      <a:srgbClr val="F7F9FC"/>
                    </a:solidFill>
                  </a:tcPr>
                </a:tc>
              </a:tr>
              <a:tr h="93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991"/>
                        </a:buClr>
                        <a:buSzPts val="1100"/>
                        <a:buFont typeface="Arial"/>
                        <a:buNone/>
                        <a:defRPr sz="1400" u="none" cap="none" strike="noStrike"/>
                      </a:pPr>
                      <a:r>
                        <a:rPr b="1" lang="en-US" sz="1100" u="none" cap="none" strike="noStrike">
                          <a:solidFill>
                            <a:srgbClr val="0089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Anti-causal</a:t>
                      </a:r>
                      <a:endParaRPr sz="1800" u="none" cap="none" strike="noStrike"/>
                    </a:p>
                  </a:txBody>
                  <a:tcPr marT="45725" marB="36575" marR="73150" marL="91450" anchor="ctr">
                    <a:solidFill>
                      <a:srgbClr val="E2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441"/>
                        </a:buClr>
                        <a:buSzPts val="1100"/>
                        <a:buFont typeface="Arial"/>
                        <a:buNone/>
                        <a:defRPr sz="1400" u="none" cap="none" strike="noStrike"/>
                      </a:pPr>
                      <a:r>
                        <a:rPr b="0" lang="en-US" sz="1100" u="none" cap="none" strike="noStrike">
                          <a:solidFill>
                            <a:srgbClr val="2A34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Output depends only on future input values.</a:t>
                      </a:r>
                      <a:endParaRPr sz="1800" u="none" cap="none" strike="noStrike"/>
                    </a:p>
                  </a:txBody>
                  <a:tcPr marT="45725" marB="36575" marR="73150" marL="91450"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441"/>
                        </a:buClr>
                        <a:buSzPts val="1100"/>
                        <a:buFont typeface="Arial"/>
                        <a:buNone/>
                        <a:defRPr sz="1400" u="none" cap="none" strike="noStrike"/>
                      </a:pPr>
                      <a:r>
                        <a:rPr b="0" lang="en-US" sz="1100" u="none" cap="none" strike="noStrike">
                          <a:solidFill>
                            <a:srgbClr val="2A34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Future only</a:t>
                      </a:r>
                      <a:endParaRPr sz="1800" u="none" cap="none" strike="noStrike"/>
                    </a:p>
                  </a:txBody>
                  <a:tcPr marT="45725" marB="36575" marR="73150" marL="91450"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/>
                    </a:p>
                  </a:txBody>
                  <a:tcPr marT="45725" marB="36575" marR="73150" marL="91450" anchor="ctr">
                    <a:solidFill>
                      <a:srgbClr val="E8F1F9"/>
                    </a:solidFill>
                  </a:tcPr>
                </a:tc>
              </a:tr>
            </a:tbl>
          </a:graphicData>
        </a:graphic>
      </p:graphicFrame>
      <p:sp>
        <p:nvSpPr>
          <p:cNvPr id="84" name="Google Shape;84;p1"/>
          <p:cNvSpPr/>
          <p:nvPr/>
        </p:nvSpPr>
        <p:spPr>
          <a:xfrm>
            <a:off x="249879" y="4736575"/>
            <a:ext cx="8238900" cy="292500"/>
          </a:xfrm>
          <a:prstGeom prst="roundRect">
            <a:avLst>
              <a:gd fmla="val 50000" name="adj"/>
            </a:avLst>
          </a:prstGeom>
          <a:solidFill>
            <a:srgbClr val="182D4E"/>
          </a:solidFill>
          <a:ln>
            <a:noFill/>
          </a:ln>
        </p:spPr>
        <p:txBody>
          <a:bodyPr anchorCtr="0" anchor="ctr" bIns="45700" lIns="146300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Remember:  y(n) = x(n + k)   →   k ≤ 0 : Causal   |   k &gt; 0 : Non-causal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-4576" y="2038636"/>
            <a:ext cx="9144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146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/>
          <p:nvPr/>
        </p:nvSpPr>
        <p:spPr>
          <a:xfrm>
            <a:off x="438912" y="146307"/>
            <a:ext cx="82296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D4E"/>
              </a:buClr>
              <a:buSzPts val="2700"/>
              <a:buFont typeface="Play"/>
              <a:buNone/>
            </a:pPr>
            <a:r>
              <a:rPr b="1" i="0" lang="en-US" sz="2400" u="none" cap="none" strike="noStrike">
                <a:solidFill>
                  <a:srgbClr val="182D4E"/>
                </a:solidFill>
                <a:latin typeface="Play"/>
                <a:ea typeface="Play"/>
                <a:cs typeface="Play"/>
                <a:sym typeface="Play"/>
              </a:rPr>
              <a:t>Examples: Classifying Systems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457200" y="795528"/>
            <a:ext cx="110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97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978"/>
                </a:solidFill>
                <a:latin typeface="Arial"/>
                <a:ea typeface="Arial"/>
                <a:cs typeface="Arial"/>
                <a:sym typeface="Arial"/>
              </a:rPr>
              <a:t>One fully solved example, then two more examples of different types.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Solved example box"/>
          <p:cNvSpPr/>
          <p:nvPr/>
        </p:nvSpPr>
        <p:spPr>
          <a:xfrm>
            <a:off x="365760" y="1200000"/>
            <a:ext cx="8412480" cy="1950000"/>
          </a:xfrm>
          <a:prstGeom prst="roundRect">
            <a:avLst>
              <a:gd name="adj" fmla="val 6000"/>
            </a:avLst>
          </a:prstGeom>
          <a:solidFill>
            <a:srgbClr val="E8F1F9"/>
          </a:solidFill>
          <a:ln w="1905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pPr algn="l">
              <a:spcAft>
                <a:spcPts val="300"/>
              </a:spcAft>
            </a:pPr>
            <a:r>
              <a:rPr b="1" sz="1400">
                <a:solidFill>
                  <a:srgbClr val="182D4E"/>
                </a:solidFill>
                <a:latin typeface="Arial"/>
              </a:rPr>
              <a:t>Solved example:  y(n) = x(n−1) + x(n+2)</a:t>
            </a:r>
          </a:p>
          <a:p>
            <a:pPr algn="l">
              <a:spcAft>
                <a:spcPts val="300"/>
              </a:spcAft>
            </a:pPr>
            <a:r>
              <a:rPr b="0" sz="1200">
                <a:solidFill>
                  <a:srgbClr val="2A3441"/>
                </a:solidFill>
                <a:latin typeface="Arial"/>
              </a:rPr>
              <a:t>Step 1:  Take a sample value, n = 0.</a:t>
            </a:r>
          </a:p>
          <a:p>
            <a:pPr algn="l">
              <a:spcAft>
                <a:spcPts val="300"/>
              </a:spcAft>
            </a:pPr>
            <a:r>
              <a:rPr b="0" sz="1200">
                <a:solidFill>
                  <a:srgbClr val="2A3441"/>
                </a:solidFill>
                <a:latin typeface="Arial"/>
              </a:rPr>
              <a:t>Step 2:  Substitute:  y(0) = x(−1) + x(2).</a:t>
            </a:r>
          </a:p>
          <a:p>
            <a:pPr algn="l">
              <a:spcAft>
                <a:spcPts val="300"/>
              </a:spcAft>
            </a:pPr>
            <a:r>
              <a:rPr b="0" sz="1200">
                <a:solidFill>
                  <a:srgbClr val="2A3441"/>
                </a:solidFill>
                <a:latin typeface="Arial"/>
              </a:rPr>
              <a:t>Step 3:  x(−1) is a past input, but x(2) is a future input (2 &gt; 0).</a:t>
            </a:r>
          </a:p>
          <a:p>
            <a:pPr algn="l">
              <a:spcAft>
                <a:spcPts val="300"/>
              </a:spcAft>
            </a:pPr>
            <a:r>
              <a:rPr b="0" sz="1200">
                <a:solidFill>
                  <a:srgbClr val="2A3441"/>
                </a:solidFill>
                <a:latin typeface="Arial"/>
              </a:rPr>
              <a:t>Step 4:  The output at n = 0 needs the input at n = 2, which is in the future.</a:t>
            </a:r>
          </a:p>
          <a:p>
            <a:pPr algn="l">
              <a:spcAft>
                <a:spcPts val="300"/>
              </a:spcAft>
            </a:pPr>
            <a:r>
              <a:rPr b="1" sz="1300">
                <a:solidFill>
                  <a:srgbClr val="008991"/>
                </a:solidFill>
                <a:latin typeface="Arial"/>
              </a:rPr>
              <a:t>Answer:  Non-causal</a:t>
            </a:r>
          </a:p>
        </p:txBody>
      </p:sp>
      <p:graphicFrame>
        <p:nvGraphicFramePr>
          <p:cNvPr id="39" name="Examples table"/>
          <p:cNvGraphicFramePr>
            <a:graphicFrameLocks noGrp="1"/>
          </p:cNvGraphicFramePr>
          <p:nvPr/>
        </p:nvGraphicFramePr>
        <p:xfrm>
          <a:off x="365760" y="3330000"/>
          <a:ext cx="841248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/>
                <a:gridCol w="1750000"/>
                <a:gridCol w="1500000"/>
                <a:gridCol w="2862480"/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anchor="ctr">
                    <a:solidFill>
                      <a:srgbClr val="18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Input dependence</a:t>
                      </a:r>
                    </a:p>
                  </a:txBody>
                  <a:tcPr anchor="ctr">
                    <a:solidFill>
                      <a:srgbClr val="18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18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Reason</a:t>
                      </a:r>
                    </a:p>
                  </a:txBody>
                  <a:tcPr anchor="ctr">
                    <a:solidFill>
                      <a:srgbClr val="182D4E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8991"/>
                          </a:solidFill>
                          <a:latin typeface="Arial"/>
                        </a:rPr>
                        <a:t>y(n) = 3x(n) + x(n−1)</a:t>
                      </a:r>
                    </a:p>
                  </a:txBody>
                  <a:tcPr anchor="ctr">
                    <a:solidFill>
                      <a:srgbClr val="E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441"/>
                          </a:solidFill>
                          <a:latin typeface="Arial"/>
                        </a:rPr>
                        <a:t>Present + past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8991"/>
                          </a:solidFill>
                          <a:latin typeface="Arial"/>
                        </a:rPr>
                        <a:t>Causal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3441"/>
                          </a:solidFill>
                          <a:latin typeface="Arial"/>
                        </a:rPr>
                        <a:t>Indices n and n−1 are both ≤ n.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8991"/>
                          </a:solidFill>
                          <a:latin typeface="Arial"/>
                        </a:rPr>
                        <a:t>y(n) = x(n+3)</a:t>
                      </a:r>
                    </a:p>
                  </a:txBody>
                  <a:tcPr anchor="ctr">
                    <a:solidFill>
                      <a:srgbClr val="E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441"/>
                          </a:solidFill>
                          <a:latin typeface="Arial"/>
                        </a:rPr>
                        <a:t>Future only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8991"/>
                          </a:solidFill>
                          <a:latin typeface="Arial"/>
                        </a:rPr>
                        <a:t>Anti-causal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3441"/>
                          </a:solidFill>
                          <a:latin typeface="Arial"/>
                        </a:rPr>
                        <a:t>Uses only future input, since n+3 &gt; n.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for Audience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FD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6FD9"/>
                </a:solidFill>
                <a:latin typeface="Calibri"/>
                <a:ea typeface="Calibri"/>
                <a:cs typeface="Calibri"/>
                <a:sym typeface="Calibri"/>
              </a:rPr>
              <a:t>Decide: causal or non-causal?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57200" y="1645920"/>
            <a:ext cx="3931920" cy="1188720"/>
          </a:xfrm>
          <a:prstGeom prst="roundRect">
            <a:avLst>
              <a:gd fmla="val 9231" name="adj"/>
            </a:avLst>
          </a:prstGeom>
          <a:solidFill>
            <a:srgbClr val="E8F1FC"/>
          </a:solidFill>
          <a:ln cap="flat" cmpd="sng" w="19050">
            <a:solidFill>
              <a:srgbClr val="1E6F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/>
        </p:nvSpPr>
        <p:spPr>
          <a:xfrm>
            <a:off x="548640" y="164592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FD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6FD9"/>
                </a:solidFill>
                <a:latin typeface="Calibri"/>
                <a:ea typeface="Calibri"/>
                <a:cs typeface="Calibri"/>
                <a:sym typeface="Calibri"/>
              </a:rPr>
              <a:t>Q1   </a:t>
            </a:r>
            <a:r>
              <a:rPr b="0" i="0" lang="en-US" sz="2000" u="none" cap="none" strike="noStrike">
                <a:solidFill>
                  <a:srgbClr val="0B3C8C"/>
                </a:solidFill>
                <a:latin typeface="Calibri"/>
                <a:ea typeface="Calibri"/>
                <a:cs typeface="Calibri"/>
                <a:sym typeface="Calibri"/>
              </a:rPr>
              <a:t>y(n) = x(n) + x(n-2)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4663440" y="1645920"/>
            <a:ext cx="3931920" cy="1188720"/>
          </a:xfrm>
          <a:prstGeom prst="roundRect">
            <a:avLst>
              <a:gd fmla="val 9231" name="adj"/>
            </a:avLst>
          </a:prstGeom>
          <a:solidFill>
            <a:srgbClr val="E8F1FC"/>
          </a:solidFill>
          <a:ln cap="flat" cmpd="sng" w="19050">
            <a:solidFill>
              <a:srgbClr val="1E6F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 txBox="1"/>
          <p:nvPr/>
        </p:nvSpPr>
        <p:spPr>
          <a:xfrm>
            <a:off x="4754880" y="164592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FD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6FD9"/>
                </a:solidFill>
                <a:latin typeface="Calibri"/>
                <a:ea typeface="Calibri"/>
                <a:cs typeface="Calibri"/>
                <a:sym typeface="Calibri"/>
              </a:rPr>
              <a:t>Q2   </a:t>
            </a:r>
            <a:r>
              <a:rPr b="0" i="0" lang="en-US" sz="2000" u="none" cap="none" strike="noStrike">
                <a:solidFill>
                  <a:srgbClr val="0B3C8C"/>
                </a:solidFill>
                <a:latin typeface="Calibri"/>
                <a:ea typeface="Calibri"/>
                <a:cs typeface="Calibri"/>
                <a:sym typeface="Calibri"/>
              </a:rPr>
              <a:t>y(n) = x(n+3)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457200" y="3108960"/>
            <a:ext cx="3931920" cy="1188720"/>
          </a:xfrm>
          <a:prstGeom prst="roundRect">
            <a:avLst>
              <a:gd fmla="val 9231" name="adj"/>
            </a:avLst>
          </a:prstGeom>
          <a:solidFill>
            <a:srgbClr val="E8F1FC"/>
          </a:solidFill>
          <a:ln cap="flat" cmpd="sng" w="19050">
            <a:solidFill>
              <a:srgbClr val="1E6F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 txBox="1"/>
          <p:nvPr/>
        </p:nvSpPr>
        <p:spPr>
          <a:xfrm>
            <a:off x="548640" y="310896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FD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6FD9"/>
                </a:solidFill>
                <a:latin typeface="Calibri"/>
                <a:ea typeface="Calibri"/>
                <a:cs typeface="Calibri"/>
                <a:sym typeface="Calibri"/>
              </a:rPr>
              <a:t>Q3   </a:t>
            </a:r>
            <a:r>
              <a:rPr b="0" i="0" lang="en-US" sz="2000" u="none" cap="none" strike="noStrike">
                <a:solidFill>
                  <a:srgbClr val="0B3C8C"/>
                </a:solidFill>
                <a:latin typeface="Calibri"/>
                <a:ea typeface="Calibri"/>
                <a:cs typeface="Calibri"/>
                <a:sym typeface="Calibri"/>
              </a:rPr>
              <a:t>y(n) = x(-n)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663440" y="3108960"/>
            <a:ext cx="3931920" cy="1188720"/>
          </a:xfrm>
          <a:prstGeom prst="roundRect">
            <a:avLst>
              <a:gd fmla="val 9231" name="adj"/>
            </a:avLst>
          </a:prstGeom>
          <a:solidFill>
            <a:srgbClr val="E8F1FC"/>
          </a:solidFill>
          <a:ln cap="flat" cmpd="sng" w="19050">
            <a:solidFill>
              <a:srgbClr val="1E6F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 txBox="1"/>
          <p:nvPr/>
        </p:nvSpPr>
        <p:spPr>
          <a:xfrm>
            <a:off x="4754880" y="310896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FD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6FD9"/>
                </a:solidFill>
                <a:latin typeface="Calibri"/>
                <a:ea typeface="Calibri"/>
                <a:cs typeface="Calibri"/>
                <a:sym typeface="Calibri"/>
              </a:rPr>
              <a:t>Q4   </a:t>
            </a:r>
            <a:r>
              <a:rPr b="0" i="0" lang="en-US" sz="2000" u="none" cap="none" strike="noStrike">
                <a:solidFill>
                  <a:srgbClr val="0B3C8C"/>
                </a:solidFill>
                <a:latin typeface="Calibri"/>
                <a:ea typeface="Calibri"/>
                <a:cs typeface="Calibri"/>
                <a:sym typeface="Calibri"/>
              </a:rPr>
              <a:t>y(n) = x(n)²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457200" y="1097280"/>
            <a:ext cx="3931920" cy="1554480"/>
          </a:xfrm>
          <a:prstGeom prst="roundRect">
            <a:avLst>
              <a:gd fmla="val 7059" name="adj"/>
            </a:avLst>
          </a:prstGeom>
          <a:solidFill>
            <a:srgbClr val="E8F1FC"/>
          </a:solidFill>
          <a:ln cap="flat" cmpd="sng" w="19050">
            <a:solidFill>
              <a:srgbClr val="1E6F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 txBox="1"/>
          <p:nvPr/>
        </p:nvSpPr>
        <p:spPr>
          <a:xfrm>
            <a:off x="594360" y="118872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8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B3C8C"/>
                </a:solidFill>
                <a:latin typeface="Calibri"/>
                <a:ea typeface="Calibri"/>
                <a:cs typeface="Calibri"/>
                <a:sym typeface="Calibri"/>
              </a:rPr>
              <a:t>Real-time systems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Audio effects, control systems and sensors must be causal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4663440" y="1097280"/>
            <a:ext cx="3931920" cy="1554480"/>
          </a:xfrm>
          <a:prstGeom prst="roundRect">
            <a:avLst>
              <a:gd fmla="val 7059" name="adj"/>
            </a:avLst>
          </a:prstGeom>
          <a:solidFill>
            <a:srgbClr val="E8F1FC"/>
          </a:solidFill>
          <a:ln cap="flat" cmpd="sng" w="19050">
            <a:solidFill>
              <a:srgbClr val="1E6F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4800600" y="118872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8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B3C8C"/>
                </a:solidFill>
                <a:latin typeface="Calibri"/>
                <a:ea typeface="Calibri"/>
                <a:cs typeface="Calibri"/>
                <a:sym typeface="Calibri"/>
              </a:rPr>
              <a:t>Image processing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Non-causal filters use neighboring pixels for blur and edges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57200" y="2834640"/>
            <a:ext cx="3931920" cy="1554480"/>
          </a:xfrm>
          <a:prstGeom prst="roundRect">
            <a:avLst>
              <a:gd fmla="val 7059" name="adj"/>
            </a:avLst>
          </a:prstGeom>
          <a:solidFill>
            <a:srgbClr val="E8F1FC"/>
          </a:solidFill>
          <a:ln cap="flat" cmpd="sng" w="19050">
            <a:solidFill>
              <a:srgbClr val="1E6F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 txBox="1"/>
          <p:nvPr/>
        </p:nvSpPr>
        <p:spPr>
          <a:xfrm>
            <a:off x="594360" y="292608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8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B3C8C"/>
                </a:solidFill>
                <a:latin typeface="Calibri"/>
                <a:ea typeface="Calibri"/>
                <a:cs typeface="Calibri"/>
                <a:sym typeface="Calibri"/>
              </a:rPr>
              <a:t>Offline signal analysis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ECG and speech smoothing on recorded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4663440" y="2834640"/>
            <a:ext cx="3931920" cy="1554480"/>
          </a:xfrm>
          <a:prstGeom prst="roundRect">
            <a:avLst>
              <a:gd fmla="val 7059" name="adj"/>
            </a:avLst>
          </a:prstGeom>
          <a:solidFill>
            <a:srgbClr val="E8F1FC"/>
          </a:solidFill>
          <a:ln cap="flat" cmpd="sng" w="19050">
            <a:solidFill>
              <a:srgbClr val="1E6F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4800600" y="292608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8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B3C8C"/>
                </a:solidFill>
                <a:latin typeface="Calibri"/>
                <a:ea typeface="Calibri"/>
                <a:cs typeface="Calibri"/>
                <a:sym typeface="Calibri"/>
              </a:rPr>
              <a:t>Filter design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Ideal filters are non-causal; we approximate them with causal ones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8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7F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FD7F6"/>
                </a:solidFill>
                <a:latin typeface="Calibri"/>
                <a:ea typeface="Calibri"/>
                <a:cs typeface="Calibri"/>
                <a:sym typeface="Calibri"/>
              </a:rPr>
              <a:t>Meet Ghelani (12502060601011)  |  Harshvardhan Mayani (125020606012)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Guided by Dr. Hitesh Shah Sir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